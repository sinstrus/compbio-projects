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nguy/projects/ppt_maker/tracer-b3-slides/assets/neuron-b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0"/>
            <a:ext cx="5029200" cy="4191000"/>
          </a:xfrm>
          <a:prstGeom prst="rect">
            <a:avLst/>
          </a:prstGeom>
        </p:spPr>
      </p:pic>
      <p:pic>
        <p:nvPicPr>
          <p:cNvPr id="3" name="Image 1" descr="/home/cnguy/projects/ppt_maker/tracer-b3-slides/assets/rasterized-gradient-88477d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191000"/>
          </a:xfrm>
          <a:prstGeom prst="rect">
            <a:avLst/>
          </a:prstGeom>
        </p:spPr>
      </p:pic>
      <p:pic>
        <p:nvPicPr>
          <p:cNvPr id="4" name="Image 2" descr="/home/cnguy/projects/ppt_maker/tracer-b3-slides/assets/rasterized-gradient-a9cf14c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1000"/>
            <a:ext cx="9144000" cy="4762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1238250"/>
            <a:ext cx="4762500" cy="1512540"/>
          </a:xfrm>
          <a:prstGeom prst="roundRect">
            <a:avLst>
              <a:gd name="adj" fmla="val 2519"/>
            </a:avLst>
          </a:prstGeom>
          <a:solidFill>
            <a:srgbClr val="FFFFFF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704850" y="1466850"/>
            <a:ext cx="4158234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750"/>
              </a:spcAft>
              <a:buNone/>
            </a:pPr>
            <a:r>
              <a:rPr lang="en-US" sz="26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TRACER-Nano Idea B3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704850" y="1892350"/>
            <a:ext cx="43914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Splicing-Based VHH Display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704850" y="2326630"/>
            <a:ext cx="439140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 for Intron Retention Approach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76250" y="4406354"/>
            <a:ext cx="1591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Group | January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64939"/>
            <a:ext cx="438169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Executive Summary</a:t>
            </a:r>
            <a:endParaRPr lang="en-US" sz="2200" dirty="0"/>
          </a:p>
        </p:txBody>
      </p:sp>
      <p:pic>
        <p:nvPicPr>
          <p:cNvPr id="3" name="Image 0" descr="/home/cnguy/projects/ppt_maker/tracer-b3-slides/assets/rasterized-gradient-ee0860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010989"/>
            <a:ext cx="8572500" cy="695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58180"/>
            <a:ext cx="601861" cy="401389"/>
          </a:xfrm>
          <a:prstGeom prst="roundRect">
            <a:avLst>
              <a:gd name="adj" fmla="val 9492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234380"/>
            <a:ext cx="3030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92411" y="1144339"/>
            <a:ext cx="39353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Splicing Approach is Feasible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92411" y="1395710"/>
            <a:ext cx="393538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design constraints satisfied with optimized 27 nt X region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5750" y="1634430"/>
            <a:ext cx="4210050" cy="2849761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9100" y="1767780"/>
            <a:ext cx="402221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9100" y="2045791"/>
            <a:ext cx="3943350" cy="23050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region: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27 nt optimized sequence (9 amino acids)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LTLLLSFFQ - all acceptable residues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462 nt total (divisible by 3)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VP2 N-terminal insertion preferred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10-25% predicted display rate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48200" y="1767780"/>
            <a:ext cx="4210050" cy="2583061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81550" y="1901130"/>
            <a:ext cx="402221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B3 Approach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81550" y="2179141"/>
            <a:ext cx="3943350" cy="20383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VHH as 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intron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VP2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splice sites allow 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10-25% retention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(75-90%):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 VP2 production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(10-25%):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VHH-VP2 fusion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for co-transfection or second plasmid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4300" y="4488061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48121"/>
            <a:ext cx="5392103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B3 Concept: Intron Retention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994172"/>
            <a:ext cx="8572500" cy="1491407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127522"/>
            <a:ext cx="847191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9100" y="1390352"/>
            <a:ext cx="516434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447502"/>
            <a:ext cx="3324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5'-VP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4109" y="1390352"/>
            <a:ext cx="306735" cy="274290"/>
          </a:xfrm>
          <a:prstGeom prst="roundRect">
            <a:avLst>
              <a:gd name="adj" fmla="val 13890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0309" y="1447502"/>
            <a:ext cx="1574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99418" y="1390352"/>
            <a:ext cx="1301055" cy="274290"/>
          </a:xfrm>
          <a:prstGeom prst="roundRect">
            <a:avLst>
              <a:gd name="adj" fmla="val 1389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94668" y="1447502"/>
            <a:ext cx="11327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ATG-VHH-linker-X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29049" y="1390352"/>
            <a:ext cx="317153" cy="274290"/>
          </a:xfrm>
          <a:prstGeom prst="roundRect">
            <a:avLst>
              <a:gd name="adj" fmla="val 13890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05249" y="1447502"/>
            <a:ext cx="1680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4777" y="1390352"/>
            <a:ext cx="522684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70027" y="1447502"/>
            <a:ext cx="3388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VP-3'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286" y="1394073"/>
            <a:ext cx="4700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GT...AG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splice sites |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retained intron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9100" y="1759893"/>
            <a:ext cx="4086225" cy="592336"/>
          </a:xfrm>
          <a:prstGeom prst="roundRect">
            <a:avLst>
              <a:gd name="adj" fmla="val 9648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2450" y="1855143"/>
            <a:ext cx="38959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SPLICED (75-90%)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2450" y="2061418"/>
            <a:ext cx="389591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VP protein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8675" y="1759893"/>
            <a:ext cx="4086225" cy="592336"/>
          </a:xfrm>
          <a:prstGeom prst="roundRect">
            <a:avLst>
              <a:gd name="adj" fmla="val 9648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2025" y="1855143"/>
            <a:ext cx="38959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(10-25%)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2025" y="2061418"/>
            <a:ext cx="389591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Met-VHH-linker-X-VP fusion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5750" y="2287488"/>
            <a:ext cx="4210050" cy="2339280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9100" y="2420838"/>
            <a:ext cx="402221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Intron Retention?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9100" y="2664619"/>
            <a:ext cx="3943350" cy="1828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VHH:VP ratio through splicing efficiency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Single-plasmid system (no co-transfection)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Tuneable display rate via splice site strength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wild-type VP production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48200" y="2554188"/>
            <a:ext cx="4210050" cy="1805880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687538"/>
            <a:ext cx="4022217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Requirements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1550" y="2931319"/>
            <a:ext cx="3943350" cy="1295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splice sites (10-25% retention target)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region must preserve reading frame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 codons in retained intron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amino acids from polyY tract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300" y="4504879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14350"/>
            <a:ext cx="475088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B3? The Library Problem</a:t>
            </a:r>
            <a:endParaRPr lang="en-US" sz="2200" dirty="0"/>
          </a:p>
        </p:txBody>
      </p:sp>
      <p:pic>
        <p:nvPicPr>
          <p:cNvPr id="3" name="Image 0" descr="/home/cnguy/projects/ppt_maker/tracer-b3-slides/assets/rasterized-gradient-d13471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060400"/>
            <a:ext cx="8572500" cy="406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" y="1174700"/>
            <a:ext cx="83941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N-terminal insertion approach (Ideas A/B) hardcodes a single VHH sequence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85750" y="1278136"/>
            <a:ext cx="2755850" cy="327273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9100" y="1411486"/>
            <a:ext cx="2538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Ideas A/B (Current)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9100" y="1674316"/>
            <a:ext cx="2489150" cy="27432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inserted at N-terminus of VP1 or VP2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co-transfection with WT cap plasmid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VHH:VP ratio determined by plasmid ratio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VHH = one plasmid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74950" y="1411486"/>
            <a:ext cx="2755999" cy="300603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08300" y="1544836"/>
            <a:ext cx="253908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Library Challenge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08300" y="1807666"/>
            <a:ext cx="2489299" cy="2476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discovery requires testing many variants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variant needs separate cloning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Co-transfection limits scalability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easily screen libraries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64300" y="1392436"/>
            <a:ext cx="2793950" cy="304413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6700" y="1544836"/>
            <a:ext cx="2538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B3 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6700" y="1807666"/>
            <a:ext cx="2489150" cy="2476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in retained intron = single plasmid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Splicing controls VHH:VP ratio automatically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VHH swapping via restriction sites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Library-compatible design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4300" y="4438501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14784"/>
            <a:ext cx="5975033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Challenge: X Region Design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960834"/>
            <a:ext cx="8572500" cy="891183"/>
          </a:xfrm>
          <a:prstGeom prst="roundRect">
            <a:avLst>
              <a:gd name="adj" fmla="val 85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094184"/>
            <a:ext cx="847191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9100" y="1337965"/>
            <a:ext cx="847191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region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contain a functional splice acceptor (branch point + polypyrimidine tract + AG). But the polypyrimidine tract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be translated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the intron is retained. What amino acids result?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5750" y="1653927"/>
            <a:ext cx="2755850" cy="300603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1787277"/>
            <a:ext cx="2538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Splice Acceptor Needs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9100" y="2050107"/>
            <a:ext cx="2489150" cy="2476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point: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YUNAY motif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PolyY tract: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12+ pyrimidines (C/T)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dinucleotide: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Essential splice site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18-40 nt between BP and AG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74950" y="1787277"/>
            <a:ext cx="2755999" cy="2739330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8300" y="1920627"/>
            <a:ext cx="253908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Translation Constraint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08300" y="2183457"/>
            <a:ext cx="2489299" cy="22098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 codons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allowed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proline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(CCN codons = kinks)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preservation: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Length mod 3 = 0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pyrimidines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 codon choices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64300" y="1901577"/>
            <a:ext cx="2793950" cy="2510730"/>
          </a:xfrm>
          <a:prstGeom prst="roundRect">
            <a:avLst>
              <a:gd name="adj" fmla="val 3035"/>
            </a:avLst>
          </a:prstGeom>
          <a:solidFill>
            <a:srgbClr val="FFFFFF"/>
          </a:solidFill>
          <a:ln w="19050">
            <a:solidFill>
              <a:srgbClr val="4CAF50"/>
            </a:solidFill>
          </a:ln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6700" y="2053977"/>
            <a:ext cx="2538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6700" y="2316807"/>
            <a:ext cx="2489150" cy="1943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nt X region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(9 codons)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Ser, Phe, Leu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polyY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point adenine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encodes Thr (ACT)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 terminus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encodes Gln (CAG)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" y="4538067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16595"/>
            <a:ext cx="520750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Polypyrimidine Tract Translation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162645"/>
            <a:ext cx="8572500" cy="184398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295995"/>
            <a:ext cx="847191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Pure Pyrimidine Codons (C and T only)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5750" y="3120926"/>
            <a:ext cx="4219575" cy="1024830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3254276"/>
            <a:ext cx="4031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74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Branch Point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9100" y="3498056"/>
            <a:ext cx="40319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point consensus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YUNAY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adenine (A), breaking pure pyrimidine. Solution: Position the A in codon context that gives acceptable amino acid (ACT = Thr).</a:t>
            </a:r>
            <a:endParaRPr lang="en-US" sz="900" dirty="0"/>
          </a:p>
        </p:txBody>
      </p:sp>
      <p:pic>
        <p:nvPicPr>
          <p:cNvPr id="8" name="Image 0" descr="/home/cnguy/projects/ppt_maker/tracer-b3-slides/assets/rasterized-gradient-5a5b5e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3120926"/>
            <a:ext cx="4219575" cy="10248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72025" y="3254276"/>
            <a:ext cx="4031933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Strategy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72025" y="3498056"/>
            <a:ext cx="40319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Leu-Thr-Leu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pattern to incorporate branch point A while avoiding Pro (CC dinucleotides). Terminate with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(Gln) at splice junction.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" y="4336256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09600"/>
            <a:ext cx="438169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Reading Frame Verification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155650"/>
            <a:ext cx="8572500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3261420"/>
            <a:ext cx="4229100" cy="824061"/>
          </a:xfrm>
          <a:prstGeom prst="roundRect">
            <a:avLst>
              <a:gd name="adj" fmla="val 9247"/>
            </a:avLst>
          </a:prstGeom>
          <a:solidFill>
            <a:srgbClr val="D4EDDA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7769" y="3413820"/>
            <a:ext cx="39250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462 mod 3 = 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7769" y="3755380"/>
            <a:ext cx="392506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Bef>
                <a:spcPts val="450"/>
              </a:spcBef>
              <a:buNone/>
            </a:pPr>
            <a:r>
              <a:rPr lang="en-US" sz="10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preserved - VHH fuses in-frame with VP2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7250" y="3194000"/>
            <a:ext cx="4191000" cy="958900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8700" y="3327350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ALIGNMENT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38700" y="3563541"/>
            <a:ext cx="354657" cy="237530"/>
          </a:xfrm>
          <a:prstGeom prst="roundRect">
            <a:avLst>
              <a:gd name="adj" fmla="val 1203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4900" y="3611166"/>
            <a:ext cx="20630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12407" y="3563541"/>
            <a:ext cx="755898" cy="237530"/>
          </a:xfrm>
          <a:prstGeom prst="roundRect">
            <a:avLst>
              <a:gd name="adj" fmla="val 1203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26707" y="3611166"/>
            <a:ext cx="5378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(357)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87355" y="3563541"/>
            <a:ext cx="360313" cy="237530"/>
          </a:xfrm>
          <a:prstGeom prst="roundRect">
            <a:avLst>
              <a:gd name="adj" fmla="val 1203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63555" y="3611166"/>
            <a:ext cx="2120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66718" y="3563541"/>
            <a:ext cx="222052" cy="237530"/>
          </a:xfrm>
          <a:prstGeom prst="roundRect">
            <a:avLst>
              <a:gd name="adj" fmla="val 12869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2918" y="3611166"/>
            <a:ext cx="710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07820" y="3563541"/>
            <a:ext cx="520750" cy="237530"/>
          </a:xfrm>
          <a:prstGeom prst="roundRect">
            <a:avLst>
              <a:gd name="adj" fmla="val 1203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22120" y="3611166"/>
            <a:ext cx="29799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VP2...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38700" y="3877270"/>
            <a:ext cx="392506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600"/>
              </a:spcBef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divisible by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" y="4343400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729704"/>
            <a:ext cx="483831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Optimized X Region Sequence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275755"/>
            <a:ext cx="8572500" cy="988070"/>
          </a:xfrm>
          <a:prstGeom prst="roundRect">
            <a:avLst>
              <a:gd name="adj" fmla="val 7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09105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SEQUENCE (27 nt)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295"/>
            <a:ext cx="839419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3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5'-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CTAAC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3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TCTTCTTCTTTCTTTTCTTC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3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70484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003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---polyY (19nt)---</a:t>
            </a:r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378125"/>
            <a:ext cx="8572500" cy="878830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511475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(9 amino acids)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4369" y="2766715"/>
            <a:ext cx="2887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4369" y="2928045"/>
            <a:ext cx="2887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7421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0488" y="2766715"/>
            <a:ext cx="26884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40488" y="2928045"/>
            <a:ext cx="26884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3848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06720" y="2766715"/>
            <a:ext cx="2887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06720" y="2928045"/>
            <a:ext cx="2887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49772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92644" y="2766715"/>
            <a:ext cx="2887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92644" y="2928045"/>
            <a:ext cx="2887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35696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8568" y="2766715"/>
            <a:ext cx="2887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8568" y="2928045"/>
            <a:ext cx="2887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21620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64681" y="2766715"/>
            <a:ext cx="26945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64681" y="2928045"/>
            <a:ext cx="26945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88643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1381" y="2766715"/>
            <a:ext cx="3023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1381" y="2928045"/>
            <a:ext cx="3023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87961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30699" y="2766715"/>
            <a:ext cx="30239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30699" y="2928045"/>
            <a:ext cx="3023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87279" y="2847380"/>
            <a:ext cx="90324" cy="195560"/>
          </a:xfrm>
          <a:prstGeom prst="rect">
            <a:avLst/>
          </a:prstGeom>
          <a:noFill/>
          <a:ln/>
        </p:spPr>
        <p:txBody>
          <a:bodyPr wrap="square" lIns="19050" tIns="0" rIns="1905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30363" y="2766715"/>
            <a:ext cx="26717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30363" y="2928045"/>
            <a:ext cx="2671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50"/>
              </a:spcBef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5750" y="3371255"/>
            <a:ext cx="8572500" cy="661541"/>
          </a:xfrm>
          <a:prstGeom prst="roundRect">
            <a:avLst>
              <a:gd name="adj" fmla="val 11519"/>
            </a:avLst>
          </a:prstGeom>
          <a:solidFill>
            <a:srgbClr val="D4EDDA"/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6725" y="3495080"/>
            <a:ext cx="83747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CHECKLIST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725" y="3748980"/>
            <a:ext cx="14819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Length: 27 nt = 9 codons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10085" y="3748980"/>
            <a:ext cx="12806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CTAAC (valid)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56099" y="3748980"/>
            <a:ext cx="12069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PolyY: 19 nt pure C/T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29932" y="3748980"/>
            <a:ext cx="8331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 codons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37200" y="3748980"/>
            <a:ext cx="8998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 codons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09954" y="3748980"/>
            <a:ext cx="10881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 10-25%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" y="4223296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73993"/>
            <a:ext cx="466344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Insertion Site: VP2 Preferred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820043"/>
            <a:ext cx="8572500" cy="1781175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2715518"/>
            <a:ext cx="4229100" cy="1772989"/>
          </a:xfrm>
          <a:prstGeom prst="roundRect">
            <a:avLst>
              <a:gd name="adj" fmla="val 4298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867918"/>
            <a:ext cx="39250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VP2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250" y="3193107"/>
            <a:ext cx="384810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Intron ATG outcompetes weak ACG start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VP1 and VP3 remain completely unaffected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N-terminal fusion point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7250" y="3025527"/>
            <a:ext cx="4191000" cy="1152971"/>
          </a:xfrm>
          <a:prstGeom prst="roundRect">
            <a:avLst>
              <a:gd name="adj" fmla="val 6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8700" y="3158877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38700" y="3414117"/>
            <a:ext cx="392506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[VP1]-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ACG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-GT-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7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-VHH-X-AG-[VP2/3]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38700" y="368706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retained: Strong ATG overrides weak ACG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38700" y="388515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spliced: Normal VP2 from ACG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" y="4679007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26306"/>
            <a:ext cx="438169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Final B3 Construct Design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472357"/>
            <a:ext cx="8572500" cy="1015305"/>
          </a:xfrm>
          <a:prstGeom prst="roundRect">
            <a:avLst>
              <a:gd name="adj" fmla="val 7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05707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79997"/>
            <a:ext cx="708720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1937147"/>
            <a:ext cx="528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5'-[VP1]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94495" y="1879997"/>
            <a:ext cx="397073" cy="274290"/>
          </a:xfrm>
          <a:prstGeom prst="roundRect">
            <a:avLst>
              <a:gd name="adj" fmla="val 13890"/>
            </a:avLst>
          </a:prstGeom>
          <a:solidFill>
            <a:srgbClr val="8888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0695" y="1937147"/>
            <a:ext cx="2495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20143" y="1879997"/>
            <a:ext cx="306735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96343" y="1937147"/>
            <a:ext cx="1574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55453" y="1879997"/>
            <a:ext cx="759172" cy="274290"/>
          </a:xfrm>
          <a:prstGeom prst="roundRect">
            <a:avLst>
              <a:gd name="adj" fmla="val 1389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31653" y="1937147"/>
            <a:ext cx="6189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GCCATGG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879997"/>
            <a:ext cx="1172617" cy="274290"/>
          </a:xfrm>
          <a:prstGeom prst="roundRect">
            <a:avLst>
              <a:gd name="adj" fmla="val 1389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76550" y="1937147"/>
            <a:ext cx="9240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VHH3 (357bp)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44392" y="1879997"/>
            <a:ext cx="779264" cy="274290"/>
          </a:xfrm>
          <a:prstGeom prst="roundRect">
            <a:avLst>
              <a:gd name="adj" fmla="val 1389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39642" y="1937147"/>
            <a:ext cx="6005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(GGGGS)5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2231" y="1879997"/>
            <a:ext cx="501700" cy="274290"/>
          </a:xfrm>
          <a:prstGeom prst="roundRect">
            <a:avLst>
              <a:gd name="adj" fmla="val 1389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8431" y="1937147"/>
            <a:ext cx="3562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(27)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82505" y="1879997"/>
            <a:ext cx="317153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58705" y="1937147"/>
            <a:ext cx="1680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8233" y="1879997"/>
            <a:ext cx="830014" cy="274290"/>
          </a:xfrm>
          <a:prstGeom prst="roundRect">
            <a:avLst>
              <a:gd name="adj" fmla="val 13890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23483" y="1937147"/>
            <a:ext cx="6523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[VP2/3]-3'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5750" y="2601962"/>
            <a:ext cx="4219575" cy="695771"/>
          </a:xfrm>
          <a:prstGeom prst="roundRect">
            <a:avLst>
              <a:gd name="adj" fmla="val 10952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8150" y="2735312"/>
            <a:ext cx="399307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SPLICED (80-90%)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150" y="2951113"/>
            <a:ext cx="39930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VP2 from ACG start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38675" y="2601962"/>
            <a:ext cx="4219575" cy="695771"/>
          </a:xfrm>
          <a:prstGeom prst="roundRect">
            <a:avLst>
              <a:gd name="adj" fmla="val 10952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1075" y="2735312"/>
            <a:ext cx="399307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RETAINED (10-25%)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91075" y="2951113"/>
            <a:ext cx="39930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Met-VHH3-linker-X-VP2 fusion</a:t>
            </a:r>
            <a:endParaRPr lang="en-US" sz="1200" dirty="0"/>
          </a:p>
        </p:txBody>
      </p:sp>
      <p:pic>
        <p:nvPicPr>
          <p:cNvPr id="29" name="Image 0" descr="/home/cnguy/projects/ppt_maker/tracer-b3-slides/assets/rasterized-gradient-eef87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3412034"/>
            <a:ext cx="8572500" cy="4241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3526334"/>
            <a:ext cx="839419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insertion (when retained):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462 nt / 154 amino acids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300" y="4026694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93390"/>
            <a:ext cx="438169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239441"/>
            <a:ext cx="8572500" cy="20764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3430191"/>
            <a:ext cx="8572500" cy="638770"/>
          </a:xfrm>
          <a:prstGeom prst="roundRect">
            <a:avLst>
              <a:gd name="adj" fmla="val 11929"/>
            </a:avLst>
          </a:prstGeom>
          <a:solidFill>
            <a:srgbClr val="D4EDDA"/>
          </a:solidFill>
          <a:ln w="9525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3554016"/>
            <a:ext cx="83747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fatal risks identified. All design constraints verified. Only empirical tuning needed for retention rate.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" y="4259461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75370"/>
            <a:ext cx="438169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Validation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85750" y="1121420"/>
            <a:ext cx="2768501" cy="1714500"/>
          </a:xfrm>
          <a:prstGeom prst="roundRect">
            <a:avLst>
              <a:gd name="adj" fmla="val 4444"/>
            </a:avLst>
          </a:prstGeom>
          <a:solidFill>
            <a:srgbClr val="0034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2547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9198" y="1280220"/>
            <a:ext cx="9017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3900" y="1271290"/>
            <a:ext cx="149785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Minigene Reporter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9100" y="1559570"/>
            <a:ext cx="2501801" cy="11430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GFP split reporter construct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RT-PCR splice quantification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80-90% / 10-20%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87601" y="1121420"/>
            <a:ext cx="2768650" cy="1714500"/>
          </a:xfrm>
          <a:prstGeom prst="roundRect">
            <a:avLst>
              <a:gd name="adj" fmla="val 4444"/>
            </a:avLst>
          </a:prstGeom>
          <a:solidFill>
            <a:srgbClr val="2A5A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20951" y="125477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91049" y="1280220"/>
            <a:ext cx="9017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25751" y="1271290"/>
            <a:ext cx="99887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0951" y="1559570"/>
            <a:ext cx="2501950" cy="11430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Rep-Cap with B3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blot VP proteins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VHH-VP2 (~88 kDa)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9600" y="1254770"/>
            <a:ext cx="2768650" cy="1447800"/>
          </a:xfrm>
          <a:prstGeom prst="roundRect">
            <a:avLst>
              <a:gd name="adj" fmla="val 5263"/>
            </a:avLst>
          </a:prstGeom>
          <a:solidFill>
            <a:srgbClr val="3A7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22950" y="138812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93048" y="1413570"/>
            <a:ext cx="9017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27750" y="1404640"/>
            <a:ext cx="83841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22950" y="1692920"/>
            <a:ext cx="25019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ALPL ELISA binding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transduction assay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ALPL+ vs ALPL-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5750" y="2950220"/>
            <a:ext cx="8572500" cy="441871"/>
          </a:xfrm>
          <a:prstGeom prst="roundRect">
            <a:avLst>
              <a:gd name="adj" fmla="val 17245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904" y="3064520"/>
            <a:ext cx="83941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Decision Point: After Phase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5750" y="3506391"/>
            <a:ext cx="8572500" cy="680591"/>
          </a:xfrm>
          <a:prstGeom prst="roundRect">
            <a:avLst>
              <a:gd name="adj" fmla="val 11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3639741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WESTERN BLOT RESULTS (Phase 2)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75931"/>
            <a:ext cx="90232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VP1: ~87 kDa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13284" y="3875931"/>
            <a:ext cx="90232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VP2: ~73 kDa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9369" y="3875931"/>
            <a:ext cx="90232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VP3: ~62 kDa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25453" y="3875931"/>
            <a:ext cx="223137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7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VHH-VP2: ~88 kDa (new band)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" y="4377482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63004"/>
            <a:ext cx="51589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34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Conclusions and Recommendations</a:t>
            </a:r>
            <a:endParaRPr lang="en-US" sz="2000" dirty="0"/>
          </a:p>
        </p:txBody>
      </p:sp>
      <p:pic>
        <p:nvPicPr>
          <p:cNvPr id="3" name="Image 0" descr="/home/cnguy/projects/ppt_maker/tracer-b3-slides/assets/rasterized-gradient-48ae3e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83754"/>
            <a:ext cx="8572500" cy="1396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1079004"/>
            <a:ext cx="903387" cy="272951"/>
          </a:xfrm>
          <a:prstGeom prst="roundRect">
            <a:avLst>
              <a:gd name="adj" fmla="val 13959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1126629"/>
            <a:ext cx="68828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17737" y="1126629"/>
            <a:ext cx="325423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Splicing Approach is Ready for Validation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9100" y="1409105"/>
            <a:ext cx="83058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design constraints satisfied: frame preservation, no stop codons, acceptable amino acids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nt X region enables functional splice acceptor with 10-25% predicted retention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VP2 N-terminal insertion is the optimal target site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5750" y="2475905"/>
            <a:ext cx="4210050" cy="15887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0050" y="257115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3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0050" y="2788295"/>
            <a:ext cx="398145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X region sequence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minigene reporter construct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RT-PCR splice assay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Phase 1 passes: proceed to VP2-VHH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10100" y="2628305"/>
            <a:ext cx="4248150" cy="1283940"/>
          </a:xfrm>
          <a:prstGeom prst="roundRect">
            <a:avLst>
              <a:gd name="adj" fmla="val 4451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29150" y="2628305"/>
            <a:ext cx="0" cy="1283940"/>
          </a:xfrm>
          <a:prstGeom prst="line">
            <a:avLst/>
          </a:prstGeom>
          <a:noFill/>
          <a:ln w="38100">
            <a:solidFill>
              <a:srgbClr val="FF7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2500" y="272355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62500" y="2940695"/>
            <a:ext cx="398145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retention rate (empirical)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Cell-type splicing variation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VHH folding in intron context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85750" y="4159895"/>
            <a:ext cx="8572500" cy="330101"/>
          </a:xfrm>
          <a:prstGeom prst="roundRect">
            <a:avLst>
              <a:gd name="adj" fmla="val 17313"/>
            </a:avLst>
          </a:prstGeom>
          <a:solidFill>
            <a:srgbClr val="FF7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6042" y="4236095"/>
            <a:ext cx="847191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proceed: 27 nt X region | VP2 target | 10-25% display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" y="4680496"/>
            <a:ext cx="874395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4149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Voyager Therapeutics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TRACER-Nano Idea B3 Feasibility Analysis</dc:title>
  <dc:subject>Splicing-Based VHH Display</dc:subject>
  <dc:creator>Payload Group</dc:creator>
  <cp:lastModifiedBy>Payload Group</cp:lastModifiedBy>
  <cp:revision>1</cp:revision>
  <dcterms:created xsi:type="dcterms:W3CDTF">2026-01-27T17:17:36Z</dcterms:created>
  <dcterms:modified xsi:type="dcterms:W3CDTF">2026-01-27T17:17:36Z</dcterms:modified>
</cp:coreProperties>
</file>