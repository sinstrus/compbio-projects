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nguy/projects/ppt_maker/tracer-vr4-slides/assets/neuron-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0"/>
            <a:ext cx="5029200" cy="4191000"/>
          </a:xfrm>
          <a:prstGeom prst="rect">
            <a:avLst/>
          </a:prstGeom>
        </p:spPr>
      </p:pic>
      <p:pic>
        <p:nvPicPr>
          <p:cNvPr id="3" name="Image 1" descr="/home/cnguy/projects/ppt_maker/tracer-vr4-slides/assets/rasterized-gradient-910979b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4191000"/>
          </a:xfrm>
          <a:prstGeom prst="rect">
            <a:avLst/>
          </a:prstGeom>
        </p:spPr>
      </p:pic>
      <p:pic>
        <p:nvPicPr>
          <p:cNvPr id="4" name="Image 2" descr="/home/cnguy/projects/ppt_maker/tracer-vr4-slides/assets/rasterized-gradient-31c897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91000"/>
            <a:ext cx="9144000" cy="4762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6250" y="1238250"/>
            <a:ext cx="4762500" cy="1708100"/>
          </a:xfrm>
          <a:prstGeom prst="roundRect">
            <a:avLst>
              <a:gd name="adj" fmla="val 2231"/>
            </a:avLst>
          </a:prstGeom>
          <a:solidFill>
            <a:srgbClr val="FFFFFF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704850" y="1466850"/>
            <a:ext cx="3478149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750"/>
              </a:spcAft>
              <a:buNone/>
            </a:pPr>
            <a:r>
              <a:rPr lang="en-US" sz="26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TRACER-Nano VR4</a:t>
            </a:r>
            <a:endParaRPr lang="en-US" sz="2600" dirty="0"/>
          </a:p>
        </p:txBody>
      </p:sp>
      <p:sp>
        <p:nvSpPr>
          <p:cNvPr id="7" name="Text 2"/>
          <p:cNvSpPr/>
          <p:nvPr/>
        </p:nvSpPr>
        <p:spPr>
          <a:xfrm>
            <a:off x="704850" y="1892350"/>
            <a:ext cx="43914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FF74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Splicing Design Validation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704850" y="2326630"/>
            <a:ext cx="439140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Feasibility Analysis for</a:t>
            </a:r>
            <a:endParaRPr lang="en-US" sz="1100" dirty="0"/>
          </a:p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VR4 Loop-Based VHH Display on AAV Capsids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76250" y="4406354"/>
            <a:ext cx="1591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Group | January 2026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457200"/>
            <a:ext cx="438169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Executive Summary</a:t>
            </a:r>
            <a:endParaRPr lang="en-US" sz="2000" dirty="0"/>
          </a:p>
        </p:txBody>
      </p:sp>
      <p:pic>
        <p:nvPicPr>
          <p:cNvPr id="3" name="Image 0" descr="/home/cnguy/projects/ppt_maker/tracer-vr4-slides/assets/rasterized-gradient-4e8665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977950"/>
            <a:ext cx="8572500" cy="5567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9100" y="1073200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9100" y="1261765"/>
            <a:ext cx="847191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use inefficient splicing in VR4 to display VHH on all VP proteins?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85750" y="1629966"/>
            <a:ext cx="4229100" cy="15887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00050" y="1725216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00050" y="1942356"/>
            <a:ext cx="4000500" cy="11811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intron in VR4 loop region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Splice sites OUTSIDE linkers (Config A)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~85% spliced = 6 aa scar (minimal)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~15% retained = 187 aa VHH insert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29150" y="1629966"/>
            <a:ext cx="4229100" cy="15887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743450" y="1725216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VP2 N-TERMINAL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743450" y="1942356"/>
            <a:ext cx="4000500" cy="11811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VPs modified (not just VP2)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 VHH/capsid vs ~0.75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Surface-exposed (better access)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avidity for targeting</a:t>
            </a:r>
            <a:endParaRPr lang="en-US" sz="1350" dirty="0"/>
          </a:p>
        </p:txBody>
      </p:sp>
      <p:pic>
        <p:nvPicPr>
          <p:cNvPr id="12" name="Image 1" descr="/home/cnguy/projects/ppt_maker/tracer-vr4-slides/assets/rasterized-gradient-4207bc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3313956"/>
            <a:ext cx="8572500" cy="5295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9100" y="3442246"/>
            <a:ext cx="440829" cy="272951"/>
          </a:xfrm>
          <a:prstGeom prst="roundRect">
            <a:avLst>
              <a:gd name="adj" fmla="val 13959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33400" y="3489871"/>
            <a:ext cx="21647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974229" y="3409206"/>
            <a:ext cx="32411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VR4 Splicing Design is FEASIBLE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974229" y="3605957"/>
            <a:ext cx="324118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150"/>
              </a:spcBef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aa scar | 187 aa retained | 10-20% retention | No frame shift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85750" y="3938736"/>
            <a:ext cx="2085975" cy="580132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42614" y="4014936"/>
            <a:ext cx="197224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aa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42614" y="4318397"/>
            <a:ext cx="197224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spcBef>
                <a:spcPts val="15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Spliced scar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2447925" y="3938736"/>
            <a:ext cx="2085975" cy="580132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504789" y="4014936"/>
            <a:ext cx="197224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aa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2504789" y="4318397"/>
            <a:ext cx="197224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spcBef>
                <a:spcPts val="15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insert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4610100" y="3938736"/>
            <a:ext cx="2085975" cy="580132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666964" y="4014936"/>
            <a:ext cx="197224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666964" y="4318397"/>
            <a:ext cx="197224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spcBef>
                <a:spcPts val="15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 per capsid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6772275" y="3938736"/>
            <a:ext cx="2085975" cy="580132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829139" y="4014936"/>
            <a:ext cx="197224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561 nt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6829139" y="4318397"/>
            <a:ext cx="197224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spcBef>
                <a:spcPts val="15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preserved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114300" y="4709368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545157"/>
            <a:ext cx="438169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VR4 Splicing Concept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85750" y="1065907"/>
            <a:ext cx="8572500" cy="664220"/>
          </a:xfrm>
          <a:prstGeom prst="roundRect">
            <a:avLst>
              <a:gd name="adj" fmla="val 8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1161157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A: Splice Sites OUTSIDE Linkers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0050" y="1397347"/>
            <a:ext cx="357039" cy="237530"/>
          </a:xfrm>
          <a:prstGeom prst="roundRect">
            <a:avLst>
              <a:gd name="adj" fmla="val 12030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1444972"/>
            <a:ext cx="20873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6139" y="1406277"/>
            <a:ext cx="416570" cy="219521"/>
          </a:xfrm>
          <a:prstGeom prst="roundRect">
            <a:avLst>
              <a:gd name="adj" fmla="val 1301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3289" y="1453902"/>
            <a:ext cx="30831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X-exon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211759" y="1406277"/>
            <a:ext cx="196304" cy="219521"/>
          </a:xfrm>
          <a:prstGeom prst="roundRect">
            <a:avLst>
              <a:gd name="adj" fmla="val 14557"/>
            </a:avLst>
          </a:prstGeom>
          <a:solidFill>
            <a:srgbClr val="8888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49859" y="1453902"/>
            <a:ext cx="12250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427113" y="1406277"/>
            <a:ext cx="359569" cy="219521"/>
          </a:xfrm>
          <a:prstGeom prst="roundRect">
            <a:avLst>
              <a:gd name="adj" fmla="val 13017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84263" y="1453902"/>
            <a:ext cx="25017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805732" y="1397347"/>
            <a:ext cx="400943" cy="237530"/>
          </a:xfrm>
          <a:prstGeom prst="roundRect">
            <a:avLst>
              <a:gd name="adj" fmla="val 12030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81932" y="1444972"/>
            <a:ext cx="25351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25725" y="1406277"/>
            <a:ext cx="359569" cy="219521"/>
          </a:xfrm>
          <a:prstGeom prst="roundRect">
            <a:avLst>
              <a:gd name="adj" fmla="val 13017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82875" y="1453902"/>
            <a:ext cx="25017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604343" y="1406277"/>
            <a:ext cx="204341" cy="219521"/>
          </a:xfrm>
          <a:prstGeom prst="roundRect">
            <a:avLst>
              <a:gd name="adj" fmla="val 13984"/>
            </a:avLst>
          </a:prstGeom>
          <a:solidFill>
            <a:srgbClr val="8888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42443" y="1453902"/>
            <a:ext cx="13070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827734" y="1406277"/>
            <a:ext cx="403771" cy="219521"/>
          </a:xfrm>
          <a:prstGeom prst="roundRect">
            <a:avLst>
              <a:gd name="adj" fmla="val 1301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884884" y="1453902"/>
            <a:ext cx="29526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Y-exon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250555" y="1397347"/>
            <a:ext cx="357039" cy="237530"/>
          </a:xfrm>
          <a:prstGeom prst="roundRect">
            <a:avLst>
              <a:gd name="adj" fmla="val 12030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26755" y="1444972"/>
            <a:ext cx="20873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02844" y="1453902"/>
            <a:ext cx="149618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exons | 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intron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85750" y="1825377"/>
            <a:ext cx="4229100" cy="898475"/>
          </a:xfrm>
          <a:prstGeom prst="roundRect">
            <a:avLst>
              <a:gd name="adj" fmla="val 6361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0050" y="1920627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SPLICED (85-90%)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0050" y="2109192"/>
            <a:ext cx="408051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6 aa scar in VR4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0050" y="2344043"/>
            <a:ext cx="408051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VR4 - AAK-AAK - VR4</a:t>
            </a:r>
            <a:endParaRPr lang="en-US" sz="800" dirty="0"/>
          </a:p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 capsid assembly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29150" y="1825377"/>
            <a:ext cx="4229100" cy="898475"/>
          </a:xfrm>
          <a:prstGeom prst="roundRect">
            <a:avLst>
              <a:gd name="adj" fmla="val 6361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3450" y="1920627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(10-15%)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43450" y="2109192"/>
            <a:ext cx="408051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aa VHH-containing insert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43450" y="2344043"/>
            <a:ext cx="408051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VR4 - X - linker - VHH - linker - Y - VR4</a:t>
            </a:r>
            <a:endParaRPr lang="en-US" sz="800" dirty="0"/>
          </a:p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Surface-displayed nanobody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85750" y="2819102"/>
            <a:ext cx="4229100" cy="15887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00050" y="2914352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VR4 LOOP?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0050" y="3131493"/>
            <a:ext cx="4000500" cy="11811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Surface-exposed variable region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to VP1, VP2, VP3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Tolerates small insertions (5-15 aa)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VHH copy number than VP2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629150" y="2819102"/>
            <a:ext cx="4229100" cy="15887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43450" y="2914352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REQUIREMENTS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43450" y="3131493"/>
            <a:ext cx="4000500" cy="11811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Spliced scar must be small (&lt;10 aa)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frame preserved in both states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stop codons when retained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10-20% retention target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14300" y="4598343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469404"/>
            <a:ext cx="663568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Config A vs Config B: Why Placement Matters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85750" y="990154"/>
            <a:ext cx="8572500" cy="939254"/>
          </a:xfrm>
          <a:prstGeom prst="roundRect">
            <a:avLst>
              <a:gd name="adj" fmla="val 6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990154"/>
            <a:ext cx="0" cy="939254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150" y="1085404"/>
            <a:ext cx="1054894" cy="199430"/>
          </a:xfrm>
          <a:prstGeom prst="roundRect">
            <a:avLst>
              <a:gd name="adj" fmla="val 14328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113979"/>
            <a:ext cx="92054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69244" y="1096268"/>
            <a:ext cx="276557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A: Splice sites OUTSIDE linkers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150" y="1341983"/>
            <a:ext cx="413880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spliced: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8150" y="1512838"/>
            <a:ext cx="41388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VR4 - [X-exon][Y-exon] - VR4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150" y="1691878"/>
            <a:ext cx="413880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150"/>
              </a:spcBef>
              <a:buNone/>
            </a:pPr>
            <a:r>
              <a:rPr lang="en-US" sz="8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6 aa scar (AAKAAK)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86300" y="1341983"/>
            <a:ext cx="413880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retained: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86300" y="1512838"/>
            <a:ext cx="41388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VR4 - X - linker - VHH - linker - Y - VR4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86300" y="1691878"/>
            <a:ext cx="413880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150"/>
              </a:spcBef>
              <a:buNone/>
            </a:pPr>
            <a:r>
              <a:rPr lang="en-US" sz="800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187 aa insert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5750" y="2024658"/>
            <a:ext cx="8572500" cy="939254"/>
          </a:xfrm>
          <a:prstGeom prst="roundRect">
            <a:avLst>
              <a:gd name="adj" fmla="val 6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04800" y="2024658"/>
            <a:ext cx="0" cy="939254"/>
          </a:xfrm>
          <a:prstGeom prst="line">
            <a:avLst/>
          </a:prstGeom>
          <a:noFill/>
          <a:ln w="38100">
            <a:solidFill>
              <a:srgbClr val="F443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150" y="2119908"/>
            <a:ext cx="509141" cy="199430"/>
          </a:xfrm>
          <a:prstGeom prst="roundRect">
            <a:avLst>
              <a:gd name="adj" fmla="val 14328"/>
            </a:avLst>
          </a:prstGeom>
          <a:solidFill>
            <a:srgbClr val="F443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4350" y="2148483"/>
            <a:ext cx="36387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23491" y="2130772"/>
            <a:ext cx="261468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B: Splice sites INSIDE linkers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150" y="2376488"/>
            <a:ext cx="413880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spliced: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8150" y="2547342"/>
            <a:ext cx="41388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VR4 - linker - [X][Y] - linker - VR4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150" y="2726382"/>
            <a:ext cx="413880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150"/>
              </a:spcBef>
              <a:buNone/>
            </a:pPr>
            <a:r>
              <a:rPr lang="en-US" sz="800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~56 aa scar (TOO BIG!)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86300" y="2376488"/>
            <a:ext cx="413880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86300" y="2547342"/>
            <a:ext cx="41388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aa insertion in VR4 even when spliced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86300" y="2726382"/>
            <a:ext cx="413880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150"/>
              </a:spcBef>
              <a:buNone/>
            </a:pPr>
            <a:r>
              <a:rPr lang="en-US" sz="800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disrupt capsid assembly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5750" y="3059162"/>
            <a:ext cx="8572500" cy="1424434"/>
          </a:xfrm>
          <a:prstGeom prst="roundRect">
            <a:avLst>
              <a:gd name="adj" fmla="val 40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0050" y="3154412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0050" y="3390602"/>
            <a:ext cx="4057650" cy="256580"/>
          </a:xfrm>
          <a:prstGeom prst="roundRect">
            <a:avLst>
              <a:gd name="adj" fmla="val 1113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6250" y="3447752"/>
            <a:ext cx="398335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95800" y="3390602"/>
            <a:ext cx="2105025" cy="256580"/>
          </a:xfrm>
          <a:prstGeom prst="roundRect">
            <a:avLst>
              <a:gd name="adj" fmla="val 1113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552474" y="3447752"/>
            <a:ext cx="199167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38925" y="3390602"/>
            <a:ext cx="2105025" cy="256580"/>
          </a:xfrm>
          <a:prstGeom prst="roundRect">
            <a:avLst>
              <a:gd name="adj" fmla="val 11137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95599" y="3447752"/>
            <a:ext cx="199167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6250" y="3713857"/>
            <a:ext cx="398335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Spliced scar size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52474" y="3713857"/>
            <a:ext cx="199167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695599" y="3713857"/>
            <a:ext cx="199167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~56 aa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6250" y="3960912"/>
            <a:ext cx="398335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Capsid assembly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52474" y="3960912"/>
            <a:ext cx="199167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95599" y="3960912"/>
            <a:ext cx="199167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6250" y="4207966"/>
            <a:ext cx="398335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VR4 tolerance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52474" y="4207966"/>
            <a:ext cx="199167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limits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695599" y="4207966"/>
            <a:ext cx="199167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Exceeds limits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4300" y="4674096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457200"/>
            <a:ext cx="438169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5' Splice Donor Design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85750" y="977950"/>
            <a:ext cx="8572500" cy="863352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1073200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X-REGION STRUCTURE (21 nt)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0050" y="1309390"/>
            <a:ext cx="947589" cy="274290"/>
          </a:xfrm>
          <a:prstGeom prst="roundRect">
            <a:avLst>
              <a:gd name="adj" fmla="val 10418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300" y="1366540"/>
            <a:ext cx="7722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GCT GCC AAG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66689" y="1309390"/>
            <a:ext cx="145107" cy="274290"/>
          </a:xfrm>
          <a:prstGeom prst="roundRect">
            <a:avLst>
              <a:gd name="adj" fmla="val 19692"/>
            </a:avLst>
          </a:prstGeom>
          <a:solidFill>
            <a:srgbClr val="8888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04789" y="1366540"/>
            <a:ext cx="702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|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30846" y="1309390"/>
            <a:ext cx="1222772" cy="274290"/>
          </a:xfrm>
          <a:prstGeom prst="roundRect">
            <a:avLst>
              <a:gd name="adj" fmla="val 10418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26096" y="1366540"/>
            <a:ext cx="10529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GTA AGT GCT GCT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1478" y="1621780"/>
            <a:ext cx="87439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5'-exon (9 nt)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245870" y="1621780"/>
            <a:ext cx="116586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Intron 5' (12 nt)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058418" y="1375916"/>
            <a:ext cx="15827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Exon: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AAK (Ala-Ala-Lys)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58418" y="1537246"/>
            <a:ext cx="158271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150"/>
              </a:spcBef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Intron:</a:t>
            </a:r>
            <a:pPr algn="l" indent="0" marL="0">
              <a:lnSpc>
                <a:spcPts val="1120"/>
              </a:lnSpc>
              <a:spcBef>
                <a:spcPts val="150"/>
              </a:spcBef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VSAA (Val-Ser-Ala-Ala)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5750" y="1994297"/>
            <a:ext cx="4229100" cy="104135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0050" y="2089547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SPLICE DONOR CONTEXT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0050" y="2306687"/>
            <a:ext cx="4000500" cy="292001"/>
          </a:xfrm>
          <a:prstGeom prst="roundRect">
            <a:avLst>
              <a:gd name="adj" fmla="val 97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2363837"/>
            <a:ext cx="396392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AAG |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7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GT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AAGT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0050" y="2655838"/>
            <a:ext cx="408051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 dinucleotide: Required (present)</a:t>
            </a:r>
            <a:endParaRPr lang="en-US" sz="800" dirty="0"/>
          </a:p>
          <a:p>
            <a:pPr algn="l" indent="0" marL="0">
              <a:lnSpc>
                <a:spcPts val="1120"/>
              </a:lnSpc>
              <a:spcBef>
                <a:spcPts val="45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+3 to +6 (AAGT): Near-consensus match</a:t>
            </a:r>
            <a:endParaRPr lang="en-US" sz="800" dirty="0"/>
          </a:p>
        </p:txBody>
      </p:sp>
      <p:pic>
        <p:nvPicPr>
          <p:cNvPr id="20" name="Image 0" descr="/home/cnguy/projects/ppt_maker/tracer-vr4-slides/assets/rasterized-gradient-9b848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9150" y="1936552"/>
            <a:ext cx="4229100" cy="115699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743450" y="2031802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SCORE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43450" y="2248942"/>
            <a:ext cx="408051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~9-10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4743450" y="2713732"/>
            <a:ext cx="408051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donor (GTAAGT is consensus)</a:t>
            </a:r>
            <a:endParaRPr lang="en-US" sz="800" dirty="0"/>
          </a:p>
          <a:p>
            <a:pPr algn="l" indent="0" marL="0">
              <a:lnSpc>
                <a:spcPts val="1120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Expected: 90-95% splicing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85750" y="3188791"/>
            <a:ext cx="8572500" cy="1368326"/>
          </a:xfrm>
          <a:prstGeom prst="roundRect">
            <a:avLst>
              <a:gd name="adj" fmla="val 41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00050" y="3284041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OPTIONS (to increase retention)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00050" y="3520232"/>
            <a:ext cx="2057400" cy="200471"/>
          </a:xfrm>
          <a:prstGeom prst="roundRect">
            <a:avLst>
              <a:gd name="adj" fmla="val 1425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37769" y="3558332"/>
            <a:ext cx="198196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2495550" y="3520232"/>
            <a:ext cx="2057400" cy="200471"/>
          </a:xfrm>
          <a:prstGeom prst="roundRect">
            <a:avLst>
              <a:gd name="adj" fmla="val 1425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533269" y="3558332"/>
            <a:ext cx="198196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591050" y="3520232"/>
            <a:ext cx="2057400" cy="200471"/>
          </a:xfrm>
          <a:prstGeom prst="roundRect">
            <a:avLst>
              <a:gd name="adj" fmla="val 1425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628769" y="3558332"/>
            <a:ext cx="198196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686550" y="3520232"/>
            <a:ext cx="2057400" cy="200471"/>
          </a:xfrm>
          <a:prstGeom prst="roundRect">
            <a:avLst>
              <a:gd name="adj" fmla="val 1425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724269" y="3558332"/>
            <a:ext cx="198196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00050" y="3749278"/>
            <a:ext cx="2057400" cy="218480"/>
          </a:xfrm>
          <a:prstGeom prst="roundRect">
            <a:avLst>
              <a:gd name="adj" fmla="val 13079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37769" y="3787378"/>
            <a:ext cx="198196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2533269" y="3787378"/>
            <a:ext cx="198196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GTAAGT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628769" y="3787378"/>
            <a:ext cx="198196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724269" y="3787378"/>
            <a:ext cx="198196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5-10%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37769" y="4034433"/>
            <a:ext cx="198196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533269" y="4034433"/>
            <a:ext cx="198196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GTACGT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628769" y="4034433"/>
            <a:ext cx="198196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724269" y="4034433"/>
            <a:ext cx="198196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10-20%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37769" y="4281488"/>
            <a:ext cx="198196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2533269" y="4281488"/>
            <a:ext cx="198196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GTATGT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628769" y="4281488"/>
            <a:ext cx="198196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724269" y="4281488"/>
            <a:ext cx="198196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20-35%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14300" y="4747617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578048"/>
            <a:ext cx="438169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3' Splice Acceptor Design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85750" y="1098798"/>
            <a:ext cx="8572500" cy="845641"/>
          </a:xfrm>
          <a:prstGeom prst="roundRect">
            <a:avLst>
              <a:gd name="adj" fmla="val 6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1194048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Y-REGION STRUCTURE (33 nt)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0050" y="1430238"/>
            <a:ext cx="419844" cy="256580"/>
          </a:xfrm>
          <a:prstGeom prst="roundRect">
            <a:avLst>
              <a:gd name="adj" fmla="val 11137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487388"/>
            <a:ext cx="31165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CTAAC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38944" y="1430238"/>
            <a:ext cx="1191369" cy="256580"/>
          </a:xfrm>
          <a:prstGeom prst="roundRect">
            <a:avLst>
              <a:gd name="adj" fmla="val 11137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5144" y="1487388"/>
            <a:ext cx="105974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TCTTCTTCTTTCTTTCC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49363" y="1430238"/>
            <a:ext cx="198537" cy="256580"/>
          </a:xfrm>
          <a:prstGeom prst="roundRect">
            <a:avLst>
              <a:gd name="adj" fmla="val 14393"/>
            </a:avLst>
          </a:prstGeom>
          <a:solidFill>
            <a:srgbClr val="8888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87463" y="1487388"/>
            <a:ext cx="12478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66950" y="1430238"/>
            <a:ext cx="110430" cy="256580"/>
          </a:xfrm>
          <a:prstGeom prst="roundRect">
            <a:avLst>
              <a:gd name="adj" fmla="val 25876"/>
            </a:avLst>
          </a:prstGeom>
          <a:solidFill>
            <a:srgbClr val="8888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05050" y="1487388"/>
            <a:ext cx="3491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96430" y="1430238"/>
            <a:ext cx="824657" cy="256580"/>
          </a:xfrm>
          <a:prstGeom prst="roundRect">
            <a:avLst>
              <a:gd name="adj" fmla="val 1113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72630" y="1487388"/>
            <a:ext cx="68570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GCT GCC AAG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0050" y="1724918"/>
            <a:ext cx="31514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937617" y="1724918"/>
            <a:ext cx="82627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polyY tract (17 nt)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357289" y="1724918"/>
            <a:ext cx="13070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714030" y="1724918"/>
            <a:ext cx="61222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3'-exon (9 nt)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85750" y="2100411"/>
            <a:ext cx="4229100" cy="1350169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0050" y="2195661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0050" y="2412802"/>
            <a:ext cx="408051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Point: CTAAC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0050" y="2564606"/>
            <a:ext cx="408051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75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YUNAY pattern (A at +4 is lariat point)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00050" y="2746028"/>
            <a:ext cx="408051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PolyY Tract: 17 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0050" y="2897832"/>
            <a:ext cx="408051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75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pyrimidine (C/T only)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00050" y="3079254"/>
            <a:ext cx="408051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Junction: CAG | GCT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0050" y="3231059"/>
            <a:ext cx="408051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75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AG present, Gln-Ala junction</a:t>
            </a:r>
            <a:endParaRPr lang="en-US" sz="700" dirty="0"/>
          </a:p>
        </p:txBody>
      </p:sp>
      <p:pic>
        <p:nvPicPr>
          <p:cNvPr id="27" name="Image 0" descr="/home/cnguy/projects/ppt_maker/tracer-vr4-slides/assets/rasterized-gradient-3ae14d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9150" y="2039689"/>
            <a:ext cx="4229100" cy="147176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743450" y="2134939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ACCEPTOR SCORE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743450" y="2352080"/>
            <a:ext cx="408051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~6-8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4743450" y="2816870"/>
            <a:ext cx="408051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acceptor strength</a:t>
            </a:r>
            <a:endParaRPr lang="en-US" sz="800" dirty="0"/>
          </a:p>
          <a:p>
            <a:pPr algn="l" indent="0" marL="0">
              <a:lnSpc>
                <a:spcPts val="1120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Expected: 10-20% retention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43450" y="3177629"/>
            <a:ext cx="4000500" cy="238571"/>
          </a:xfrm>
          <a:prstGeom prst="roundRect">
            <a:avLst>
              <a:gd name="adj" fmla="val 1197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800600" y="3234779"/>
            <a:ext cx="396392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achieved!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85750" y="3606701"/>
            <a:ext cx="8572500" cy="768102"/>
          </a:xfrm>
          <a:prstGeom prst="roundRect">
            <a:avLst>
              <a:gd name="adj" fmla="val 74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00050" y="3701951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WHEN RETAINED (Intron 3' = 24 nt = 8 codons)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00050" y="3919091"/>
            <a:ext cx="920353" cy="360462"/>
          </a:xfrm>
          <a:prstGeom prst="roundRect">
            <a:avLst>
              <a:gd name="adj" fmla="val 79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29708" y="3957191"/>
            <a:ext cx="86103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29708" y="4081463"/>
            <a:ext cx="8610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348978" y="3919091"/>
            <a:ext cx="920502" cy="360462"/>
          </a:xfrm>
          <a:prstGeom prst="roundRect">
            <a:avLst>
              <a:gd name="adj" fmla="val 79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1378635" y="3957191"/>
            <a:ext cx="86118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1378635" y="4081463"/>
            <a:ext cx="8611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2298055" y="3919091"/>
            <a:ext cx="920353" cy="360462"/>
          </a:xfrm>
          <a:prstGeom prst="roundRect">
            <a:avLst>
              <a:gd name="adj" fmla="val 79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2327714" y="3957191"/>
            <a:ext cx="86103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CTT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2327714" y="4081463"/>
            <a:ext cx="8610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3246983" y="3919091"/>
            <a:ext cx="920502" cy="360462"/>
          </a:xfrm>
          <a:prstGeom prst="roundRect">
            <a:avLst>
              <a:gd name="adj" fmla="val 79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3276640" y="3957191"/>
            <a:ext cx="86118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CTT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3276640" y="4081463"/>
            <a:ext cx="8611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196060" y="3919091"/>
            <a:ext cx="920502" cy="360462"/>
          </a:xfrm>
          <a:prstGeom prst="roundRect">
            <a:avLst>
              <a:gd name="adj" fmla="val 79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4225717" y="3957191"/>
            <a:ext cx="86118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CTT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4225717" y="4081463"/>
            <a:ext cx="8611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5145137" y="3919091"/>
            <a:ext cx="920502" cy="360462"/>
          </a:xfrm>
          <a:prstGeom prst="roundRect">
            <a:avLst>
              <a:gd name="adj" fmla="val 79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174794" y="3957191"/>
            <a:ext cx="86118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TCT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5174794" y="4081463"/>
            <a:ext cx="8611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6094214" y="3919091"/>
            <a:ext cx="920502" cy="360462"/>
          </a:xfrm>
          <a:prstGeom prst="roundRect">
            <a:avLst>
              <a:gd name="adj" fmla="val 79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6123871" y="3957191"/>
            <a:ext cx="86118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TTC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6123871" y="4081463"/>
            <a:ext cx="8611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7043291" y="3919091"/>
            <a:ext cx="920502" cy="360462"/>
          </a:xfrm>
          <a:prstGeom prst="roundRect">
            <a:avLst>
              <a:gd name="adj" fmla="val 79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7072948" y="3957191"/>
            <a:ext cx="86118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7072948" y="4081463"/>
            <a:ext cx="8611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Gln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8023714" y="3965972"/>
            <a:ext cx="68889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stops!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8023714" y="4108252"/>
            <a:ext cx="68889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Pro!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114300" y="4565303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476250"/>
            <a:ext cx="4634294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Frame Preservation Verification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85750" y="997000"/>
            <a:ext cx="8572500" cy="764530"/>
          </a:xfrm>
          <a:prstGeom prst="roundRect">
            <a:avLst>
              <a:gd name="adj" fmla="val 7475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1092250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SPLICED PRODUCT (85-90%)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0050" y="1309390"/>
            <a:ext cx="248610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5'-exon + 3'-exon: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0050" y="1470720"/>
            <a:ext cx="248610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15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GCTGCCAAG + GCTGCCAAG = 18 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89808" y="1341834"/>
            <a:ext cx="1175593" cy="292001"/>
          </a:xfrm>
          <a:prstGeom prst="roundRect">
            <a:avLst>
              <a:gd name="adj" fmla="val 13048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04108" y="1398984"/>
            <a:ext cx="96593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mod 3 =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17802" y="1309390"/>
            <a:ext cx="161383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17802" y="1470720"/>
            <a:ext cx="161383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15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AAK-AAK (6 aa scar)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5750" y="1856780"/>
            <a:ext cx="8572500" cy="2156520"/>
          </a:xfrm>
          <a:prstGeom prst="roundRect">
            <a:avLst>
              <a:gd name="adj" fmla="val 26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0050" y="1952030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PRODUCT (10-15%)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0050" y="2188220"/>
            <a:ext cx="3234779" cy="200471"/>
          </a:xfrm>
          <a:prstGeom prst="roundRect">
            <a:avLst>
              <a:gd name="adj" fmla="val 1425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2226320"/>
            <a:ext cx="318288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63404" y="2188220"/>
            <a:ext cx="1674465" cy="200471"/>
          </a:xfrm>
          <a:prstGeom prst="roundRect">
            <a:avLst>
              <a:gd name="adj" fmla="val 1425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04953" y="2226320"/>
            <a:ext cx="159136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366445" y="2188220"/>
            <a:ext cx="1674465" cy="200471"/>
          </a:xfrm>
          <a:prstGeom prst="roundRect">
            <a:avLst>
              <a:gd name="adj" fmla="val 1425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07993" y="2226320"/>
            <a:ext cx="159136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069485" y="2188220"/>
            <a:ext cx="1674465" cy="200471"/>
          </a:xfrm>
          <a:prstGeom prst="roundRect">
            <a:avLst>
              <a:gd name="adj" fmla="val 1425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111033" y="2226320"/>
            <a:ext cx="159136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00050" y="2407741"/>
            <a:ext cx="3234779" cy="199430"/>
          </a:xfrm>
          <a:prstGeom prst="roundRect">
            <a:avLst>
              <a:gd name="adj" fmla="val 14328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7200" y="2436316"/>
            <a:ext cx="318288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5'-exon (AAK)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04953" y="2436316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07993" y="2436316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11033" y="2436316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0050" y="2626221"/>
            <a:ext cx="3234779" cy="199430"/>
          </a:xfrm>
          <a:prstGeom prst="roundRect">
            <a:avLst>
              <a:gd name="adj" fmla="val 14328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7200" y="2654796"/>
            <a:ext cx="318288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Intron 5' (VSAA)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04953" y="2654796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07993" y="2654796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111033" y="2654796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0050" y="2844701"/>
            <a:ext cx="3234779" cy="199430"/>
          </a:xfrm>
          <a:prstGeom prst="roundRect">
            <a:avLst>
              <a:gd name="adj" fmla="val 14328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7200" y="2873276"/>
            <a:ext cx="318288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Linker 1 (GGGGS)x5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704953" y="2873276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07993" y="2873276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111033" y="2873276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00050" y="3063180"/>
            <a:ext cx="3234779" cy="199430"/>
          </a:xfrm>
          <a:prstGeom prst="roundRect">
            <a:avLst>
              <a:gd name="adj" fmla="val 14328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57200" y="3091755"/>
            <a:ext cx="318288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04953" y="3091755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07993" y="3091755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11033" y="3091755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0050" y="3281660"/>
            <a:ext cx="3234779" cy="199430"/>
          </a:xfrm>
          <a:prstGeom prst="roundRect">
            <a:avLst>
              <a:gd name="adj" fmla="val 14328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57200" y="3310235"/>
            <a:ext cx="318288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Linker 2 (GGGGS)x5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704953" y="3310235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07993" y="3310235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528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11033" y="3310235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00050" y="3500140"/>
            <a:ext cx="3234779" cy="199430"/>
          </a:xfrm>
          <a:prstGeom prst="roundRect">
            <a:avLst>
              <a:gd name="adj" fmla="val 14328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57200" y="3528715"/>
            <a:ext cx="318288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Intron 3' (LTLLLSFQ)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704953" y="3528715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07993" y="3528715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111033" y="3528715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0050" y="3718620"/>
            <a:ext cx="3234779" cy="199430"/>
          </a:xfrm>
          <a:prstGeom prst="roundRect">
            <a:avLst>
              <a:gd name="adj" fmla="val 14328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57200" y="3747195"/>
            <a:ext cx="318288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3'-exon (AAK)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704953" y="3747195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366445" y="3718620"/>
            <a:ext cx="1674465" cy="199430"/>
          </a:xfrm>
          <a:prstGeom prst="roundRect">
            <a:avLst>
              <a:gd name="adj" fmla="val 14328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407993" y="3747195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069485" y="3718620"/>
            <a:ext cx="1674465" cy="199430"/>
          </a:xfrm>
          <a:prstGeom prst="roundRect">
            <a:avLst>
              <a:gd name="adj" fmla="val 14328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111033" y="3747195"/>
            <a:ext cx="15913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85750" y="4108549"/>
            <a:ext cx="8572500" cy="368201"/>
          </a:xfrm>
          <a:prstGeom prst="roundRect">
            <a:avLst>
              <a:gd name="adj" fmla="val 15521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19100" y="4203799"/>
            <a:ext cx="248883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Verification: 561 mod 3 = 0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893296" y="4212580"/>
            <a:ext cx="28882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internal stop codons | No problematic prolines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4300" y="4667250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412552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Stoichiometry: VR4 vs VP2 N-Terminal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85750" y="850702"/>
            <a:ext cx="4229100" cy="1542901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926902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VP2 N-TERMINAL (Original B3)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0050" y="1144042"/>
            <a:ext cx="4000500" cy="417909"/>
          </a:xfrm>
          <a:prstGeom prst="roundRect">
            <a:avLst>
              <a:gd name="adj" fmla="val 91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201192"/>
            <a:ext cx="396392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modified: </a:t>
            </a:r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VP2 only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362521"/>
            <a:ext cx="396392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15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Copies affected: </a:t>
            </a:r>
            <a:pPr algn="l" indent="0" marL="0">
              <a:lnSpc>
                <a:spcPts val="1120"/>
              </a:lnSpc>
              <a:spcBef>
                <a:spcPts val="150"/>
              </a:spcBef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per capsid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0050" y="1619101"/>
            <a:ext cx="408051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 per capsid at 15% retention: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0050" y="1799481"/>
            <a:ext cx="408051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~0.75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0050" y="2193131"/>
            <a:ext cx="408051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Internal (N-terminus)</a:t>
            </a:r>
            <a:endParaRPr lang="en-US" sz="700" dirty="0"/>
          </a:p>
        </p:txBody>
      </p:sp>
      <p:pic>
        <p:nvPicPr>
          <p:cNvPr id="11" name="Image 0" descr="/home/cnguy/projects/ppt_maker/tracer-vr4-slides/assets/rasterized-gradient-f2bcbfb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9150" y="850702"/>
            <a:ext cx="4229100" cy="154290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743450" y="926902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VR4 LOOP (This Design)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43450" y="1144042"/>
            <a:ext cx="4000500" cy="417909"/>
          </a:xfrm>
          <a:prstGeom prst="roundRect">
            <a:avLst>
              <a:gd name="adj" fmla="val 9117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00600" y="1201192"/>
            <a:ext cx="396392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modified: </a:t>
            </a:r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VP1, VP2, VP3 (all)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800600" y="1362521"/>
            <a:ext cx="396392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15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Copies affected: </a:t>
            </a:r>
            <a:pPr algn="l" indent="0" marL="0">
              <a:lnSpc>
                <a:spcPts val="1120"/>
              </a:lnSpc>
              <a:spcBef>
                <a:spcPts val="15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 per capsid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43450" y="1619101"/>
            <a:ext cx="408051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 per capsid at 15% retention: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43450" y="1799481"/>
            <a:ext cx="408051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743450" y="2193131"/>
            <a:ext cx="408051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Surface-exposed (loop)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85750" y="2441228"/>
            <a:ext cx="8572500" cy="166241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00050" y="2517428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COMPARISON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00050" y="2734568"/>
            <a:ext cx="4086225" cy="200471"/>
          </a:xfrm>
          <a:prstGeom prst="roundRect">
            <a:avLst>
              <a:gd name="adj" fmla="val 1425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57200" y="2772668"/>
            <a:ext cx="405136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514850" y="2734568"/>
            <a:ext cx="2100263" cy="200471"/>
          </a:xfrm>
          <a:prstGeom prst="roundRect">
            <a:avLst>
              <a:gd name="adj" fmla="val 1425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552140" y="2772668"/>
            <a:ext cx="202568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VP2 N-term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643688" y="2734568"/>
            <a:ext cx="2100263" cy="200471"/>
          </a:xfrm>
          <a:prstGeom prst="roundRect">
            <a:avLst>
              <a:gd name="adj" fmla="val 14254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680978" y="2772668"/>
            <a:ext cx="202568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VR4 Loop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57200" y="2982664"/>
            <a:ext cx="405136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 at 10% retention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52140" y="2982664"/>
            <a:ext cx="202568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~0.5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680978" y="2982664"/>
            <a:ext cx="202568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57200" y="3201144"/>
            <a:ext cx="405136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 at 15% retention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552140" y="3201144"/>
            <a:ext cx="202568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~0.75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680978" y="3201144"/>
            <a:ext cx="202568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57200" y="3419624"/>
            <a:ext cx="405136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 at 20% retention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552140" y="3419624"/>
            <a:ext cx="202568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680978" y="3419624"/>
            <a:ext cx="202568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57200" y="3638104"/>
            <a:ext cx="405136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accessibility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552140" y="3638104"/>
            <a:ext cx="202568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680978" y="3638104"/>
            <a:ext cx="202568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57200" y="3856583"/>
            <a:ext cx="405136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Steric risk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552140" y="3856583"/>
            <a:ext cx="202568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680978" y="3856583"/>
            <a:ext cx="202568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pic>
        <p:nvPicPr>
          <p:cNvPr id="42" name="Image 1" descr="/home/cnguy/projects/ppt_maker/tracer-vr4-slides/assets/rasterized-gradient-b2054a5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4151263"/>
            <a:ext cx="8572500" cy="465237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400050" y="4227463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VR4 offers 12x higher VHH density with better surface accessibility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400050" y="4416028"/>
            <a:ext cx="851077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25"/>
              </a:spcBef>
              <a:buNone/>
            </a:pPr>
            <a:r>
              <a:rPr lang="en-US" sz="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for high-avidity targeting | Monitor for steric effects at high retention rates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114300" y="4787950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94011"/>
            <a:ext cx="438169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Cryptic Splice Site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85750" y="1414760"/>
            <a:ext cx="4229100" cy="997744"/>
          </a:xfrm>
          <a:prstGeom prst="roundRect">
            <a:avLst>
              <a:gd name="adj" fmla="val 57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1510010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LINKER (GGGGS)x5 - 75 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7224" y="1727150"/>
            <a:ext cx="130825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7224" y="2011561"/>
            <a:ext cx="130825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 sites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746023" y="1727150"/>
            <a:ext cx="130840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46023" y="2011561"/>
            <a:ext cx="130840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 sites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104973" y="1727150"/>
            <a:ext cx="130840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04973" y="2011561"/>
            <a:ext cx="130840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00050" y="2192982"/>
            <a:ext cx="408051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 sites lack upstream polyY - not functional acceptors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629150" y="1414760"/>
            <a:ext cx="4229100" cy="997744"/>
          </a:xfrm>
          <a:prstGeom prst="roundRect">
            <a:avLst>
              <a:gd name="adj" fmla="val 57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43450" y="1510010"/>
            <a:ext cx="4080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VHH3 - 357 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30624" y="1727150"/>
            <a:ext cx="130825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30624" y="2011561"/>
            <a:ext cx="130825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 sites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089423" y="1727150"/>
            <a:ext cx="130840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89423" y="2011561"/>
            <a:ext cx="130840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AG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448373" y="1727150"/>
            <a:ext cx="130840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48373" y="2011561"/>
            <a:ext cx="130840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743450" y="2192982"/>
            <a:ext cx="408051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 sites exist but lack paired acceptors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85750" y="2507754"/>
            <a:ext cx="8572500" cy="836563"/>
          </a:xfrm>
          <a:prstGeom prst="roundRect">
            <a:avLst>
              <a:gd name="adj" fmla="val 68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00050" y="2603004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CRYPTIC SITES ARE LOW RISK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0050" y="2839194"/>
            <a:ext cx="275920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Requires donor AND acceptor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0050" y="3000524"/>
            <a:ext cx="275920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15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Splicing requires both 5' donor (GT) and 3' acceptor (polyY + AG) working together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219450" y="2839194"/>
            <a:ext cx="275920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Designed sites are stronger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19450" y="3000524"/>
            <a:ext cx="275920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15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acceptor has 17 nt polyY - much stronger than any cryptic site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038850" y="2839194"/>
            <a:ext cx="275920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Position matters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38850" y="3000524"/>
            <a:ext cx="275920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15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Cryptic donor usage would skip designed donor and disrupt VHH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85750" y="3494038"/>
            <a:ext cx="5537150" cy="510480"/>
          </a:xfrm>
          <a:prstGeom prst="roundRect">
            <a:avLst>
              <a:gd name="adj" fmla="val 11195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00050" y="3589288"/>
            <a:ext cx="59568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79302" y="3597622"/>
            <a:ext cx="36149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Cryptic Site Risk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9302" y="3776662"/>
            <a:ext cx="361492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150"/>
              </a:spcBef>
              <a:buNone/>
            </a:pPr>
            <a:r>
              <a:rPr lang="en-US" sz="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functional cryptic acceptors | Designed sites outcompete any cryptic donors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937200" y="3439567"/>
            <a:ext cx="2921050" cy="619423"/>
          </a:xfrm>
          <a:prstGeom prst="roundRect">
            <a:avLst>
              <a:gd name="adj" fmla="val 9226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956250" y="3439567"/>
            <a:ext cx="0" cy="619423"/>
          </a:xfrm>
          <a:prstGeom prst="line">
            <a:avLst/>
          </a:prstGeom>
          <a:noFill/>
          <a:ln w="38100">
            <a:solidFill>
              <a:srgbClr val="FF74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9600" y="3534817"/>
            <a:ext cx="270743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89600" y="3715196"/>
            <a:ext cx="270743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by RT-PCR for unexpected splice products. Silent mutations available if needed.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14300" y="4249489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776436"/>
            <a:ext cx="438169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Risk Assessment Matrix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85750" y="1297186"/>
            <a:ext cx="3528417" cy="256580"/>
          </a:xfrm>
          <a:prstGeom prst="roundRect">
            <a:avLst>
              <a:gd name="adj" fmla="val 11137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1950" y="1354336"/>
            <a:ext cx="34435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42742" y="1297186"/>
            <a:ext cx="1277689" cy="256580"/>
          </a:xfrm>
          <a:prstGeom prst="roundRect">
            <a:avLst>
              <a:gd name="adj" fmla="val 11137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07689" y="1354336"/>
            <a:ext cx="11477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9007" y="1297186"/>
            <a:ext cx="1277689" cy="256580"/>
          </a:xfrm>
          <a:prstGeom prst="roundRect">
            <a:avLst>
              <a:gd name="adj" fmla="val 11137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13954" y="1354336"/>
            <a:ext cx="11477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55271" y="1297186"/>
            <a:ext cx="2402979" cy="256580"/>
          </a:xfrm>
          <a:prstGeom prst="roundRect">
            <a:avLst>
              <a:gd name="adj" fmla="val 11137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31471" y="1354336"/>
            <a:ext cx="229559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85750" y="1629966"/>
            <a:ext cx="3528417" cy="237530"/>
          </a:xfrm>
          <a:prstGeom prst="roundRect">
            <a:avLst>
              <a:gd name="adj" fmla="val 120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1950" y="1677591"/>
            <a:ext cx="34435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shift in retained product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42742" y="1629966"/>
            <a:ext cx="1277689" cy="237530"/>
          </a:xfrm>
          <a:prstGeom prst="roundRect">
            <a:avLst>
              <a:gd name="adj" fmla="val 1203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07689" y="1677591"/>
            <a:ext cx="11477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49007" y="1629966"/>
            <a:ext cx="1277689" cy="237530"/>
          </a:xfrm>
          <a:prstGeom prst="roundRect">
            <a:avLst>
              <a:gd name="adj" fmla="val 12030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13954" y="1677591"/>
            <a:ext cx="11477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55271" y="1638895"/>
            <a:ext cx="2402979" cy="219521"/>
          </a:xfrm>
          <a:prstGeom prst="roundRect">
            <a:avLst>
              <a:gd name="adj" fmla="val 130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31471" y="1686520"/>
            <a:ext cx="229559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Verified: 561 mod 3 = 0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85750" y="1943695"/>
            <a:ext cx="3528417" cy="237530"/>
          </a:xfrm>
          <a:prstGeom prst="roundRect">
            <a:avLst>
              <a:gd name="adj" fmla="val 120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1950" y="1991320"/>
            <a:ext cx="34435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codon in intron translation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2742" y="1943695"/>
            <a:ext cx="1277689" cy="237530"/>
          </a:xfrm>
          <a:prstGeom prst="roundRect">
            <a:avLst>
              <a:gd name="adj" fmla="val 1203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907689" y="1991320"/>
            <a:ext cx="11477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49007" y="1943695"/>
            <a:ext cx="1277689" cy="237530"/>
          </a:xfrm>
          <a:prstGeom prst="roundRect">
            <a:avLst>
              <a:gd name="adj" fmla="val 12030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13954" y="1991320"/>
            <a:ext cx="11477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55271" y="1952625"/>
            <a:ext cx="2402979" cy="219521"/>
          </a:xfrm>
          <a:prstGeom prst="roundRect">
            <a:avLst>
              <a:gd name="adj" fmla="val 130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31471" y="2000250"/>
            <a:ext cx="229559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Verified: none present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85750" y="2257425"/>
            <a:ext cx="3528417" cy="237530"/>
          </a:xfrm>
          <a:prstGeom prst="roundRect">
            <a:avLst>
              <a:gd name="adj" fmla="val 120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1950" y="2305050"/>
            <a:ext cx="34435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Splicing too efficient (&lt;5% retention)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42742" y="2257425"/>
            <a:ext cx="1277689" cy="237530"/>
          </a:xfrm>
          <a:prstGeom prst="roundRect">
            <a:avLst>
              <a:gd name="adj" fmla="val 1203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907689" y="2305050"/>
            <a:ext cx="11477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49007" y="2257425"/>
            <a:ext cx="1277689" cy="237530"/>
          </a:xfrm>
          <a:prstGeom prst="roundRect">
            <a:avLst>
              <a:gd name="adj" fmla="val 1203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13954" y="2305050"/>
            <a:ext cx="11477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55271" y="2266355"/>
            <a:ext cx="2402979" cy="219521"/>
          </a:xfrm>
          <a:prstGeom prst="roundRect">
            <a:avLst>
              <a:gd name="adj" fmla="val 130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531471" y="2313980"/>
            <a:ext cx="229559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Weaken donor/acceptor sites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85750" y="2571155"/>
            <a:ext cx="3528417" cy="237530"/>
          </a:xfrm>
          <a:prstGeom prst="roundRect">
            <a:avLst>
              <a:gd name="adj" fmla="val 120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61950" y="2618780"/>
            <a:ext cx="34435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Cryptic splice site usage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42742" y="2571155"/>
            <a:ext cx="1277689" cy="237530"/>
          </a:xfrm>
          <a:prstGeom prst="roundRect">
            <a:avLst>
              <a:gd name="adj" fmla="val 1203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907689" y="2618780"/>
            <a:ext cx="11477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49007" y="2571155"/>
            <a:ext cx="1277689" cy="237530"/>
          </a:xfrm>
          <a:prstGeom prst="roundRect">
            <a:avLst>
              <a:gd name="adj" fmla="val 12030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213954" y="2618780"/>
            <a:ext cx="11477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55271" y="2580084"/>
            <a:ext cx="2402979" cy="219521"/>
          </a:xfrm>
          <a:prstGeom prst="roundRect">
            <a:avLst>
              <a:gd name="adj" fmla="val 130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531471" y="2627709"/>
            <a:ext cx="229559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mutations if needed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85750" y="2884884"/>
            <a:ext cx="3528417" cy="237530"/>
          </a:xfrm>
          <a:prstGeom prst="roundRect">
            <a:avLst>
              <a:gd name="adj" fmla="val 120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61950" y="2932509"/>
            <a:ext cx="34435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Capsid assembly failure (6 aa scar)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842742" y="2884884"/>
            <a:ext cx="1277689" cy="237530"/>
          </a:xfrm>
          <a:prstGeom prst="roundRect">
            <a:avLst>
              <a:gd name="adj" fmla="val 1203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907689" y="2932509"/>
            <a:ext cx="11477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Low-Med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49007" y="2884884"/>
            <a:ext cx="1277689" cy="237530"/>
          </a:xfrm>
          <a:prstGeom prst="roundRect">
            <a:avLst>
              <a:gd name="adj" fmla="val 12030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213954" y="2932509"/>
            <a:ext cx="11477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455271" y="2893814"/>
            <a:ext cx="2402979" cy="219521"/>
          </a:xfrm>
          <a:prstGeom prst="roundRect">
            <a:avLst>
              <a:gd name="adj" fmla="val 130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531471" y="2941439"/>
            <a:ext cx="229559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minigene first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85750" y="3198614"/>
            <a:ext cx="3528417" cy="237530"/>
          </a:xfrm>
          <a:prstGeom prst="roundRect">
            <a:avLst>
              <a:gd name="adj" fmla="val 120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61950" y="3246239"/>
            <a:ext cx="34435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 VHH steric clash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842742" y="3198614"/>
            <a:ext cx="1277689" cy="237530"/>
          </a:xfrm>
          <a:prstGeom prst="roundRect">
            <a:avLst>
              <a:gd name="adj" fmla="val 1203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907689" y="3246239"/>
            <a:ext cx="11477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49007" y="3198614"/>
            <a:ext cx="1277689" cy="237530"/>
          </a:xfrm>
          <a:prstGeom prst="roundRect">
            <a:avLst>
              <a:gd name="adj" fmla="val 1203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213954" y="3246239"/>
            <a:ext cx="11477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455271" y="3207544"/>
            <a:ext cx="2402979" cy="219521"/>
          </a:xfrm>
          <a:prstGeom prst="roundRect">
            <a:avLst>
              <a:gd name="adj" fmla="val 130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531471" y="3255169"/>
            <a:ext cx="229559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to 10-15% retention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285750" y="3512344"/>
            <a:ext cx="3528417" cy="237530"/>
          </a:xfrm>
          <a:prstGeom prst="roundRect">
            <a:avLst>
              <a:gd name="adj" fmla="val 120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361950" y="3559969"/>
            <a:ext cx="34435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Cell-type splice variation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842742" y="3512344"/>
            <a:ext cx="1277689" cy="237530"/>
          </a:xfrm>
          <a:prstGeom prst="roundRect">
            <a:avLst>
              <a:gd name="adj" fmla="val 1203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3907689" y="3559969"/>
            <a:ext cx="11477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149007" y="3512344"/>
            <a:ext cx="1277689" cy="237530"/>
          </a:xfrm>
          <a:prstGeom prst="roundRect">
            <a:avLst>
              <a:gd name="adj" fmla="val 1203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213954" y="3559969"/>
            <a:ext cx="11477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455271" y="3521273"/>
            <a:ext cx="2402979" cy="219521"/>
          </a:xfrm>
          <a:prstGeom prst="roundRect">
            <a:avLst>
              <a:gd name="adj" fmla="val 130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531471" y="3568898"/>
            <a:ext cx="229559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in target cell types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285750" y="3864173"/>
            <a:ext cx="8572500" cy="312390"/>
          </a:xfrm>
          <a:prstGeom prst="roundRect">
            <a:avLst>
              <a:gd name="adj" fmla="val 18294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400050" y="3940373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fatal risks identified | Critical design constraints verified | Proceed to validation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4300" y="4367064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785515"/>
            <a:ext cx="438169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Validation Roadmap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85750" y="1306264"/>
            <a:ext cx="2781300" cy="1314450"/>
          </a:xfrm>
          <a:prstGeom prst="roundRect">
            <a:avLst>
              <a:gd name="adj" fmla="val 4348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1401514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5414" y="1416695"/>
            <a:ext cx="812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7700" y="1407914"/>
            <a:ext cx="136214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Minigene Reporter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0050" y="1649164"/>
            <a:ext cx="25527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GFP split reporter construct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RT-PCR splice quantification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85-90% / 10-15%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81350" y="1306264"/>
            <a:ext cx="2781300" cy="1314450"/>
          </a:xfrm>
          <a:prstGeom prst="roundRect">
            <a:avLst>
              <a:gd name="adj" fmla="val 4348"/>
            </a:avLst>
          </a:prstGeom>
          <a:solidFill>
            <a:srgbClr val="2A5A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95650" y="1401514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51014" y="1416695"/>
            <a:ext cx="812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43300" y="1407914"/>
            <a:ext cx="9083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 Context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5650" y="1649164"/>
            <a:ext cx="25527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Rep-Cap with VR4-B3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blot VP proteins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Titer comparison to WT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76950" y="1306264"/>
            <a:ext cx="2781300" cy="1314450"/>
          </a:xfrm>
          <a:prstGeom prst="roundRect">
            <a:avLst>
              <a:gd name="adj" fmla="val 4348"/>
            </a:avLst>
          </a:prstGeom>
          <a:solidFill>
            <a:srgbClr val="3A7A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91250" y="1401514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46614" y="1416695"/>
            <a:ext cx="812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38900" y="1407914"/>
            <a:ext cx="76236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91250" y="1649164"/>
            <a:ext cx="25527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ALPL ELISA binding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transduction assay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ALPL+ vs ALPL-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5750" y="2715964"/>
            <a:ext cx="8572500" cy="330101"/>
          </a:xfrm>
          <a:prstGeom prst="roundRect">
            <a:avLst>
              <a:gd name="adj" fmla="val 17313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6042" y="2792164"/>
            <a:ext cx="847191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GO/NO-GO Decision Point: After Phase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5750" y="3141315"/>
            <a:ext cx="8572500" cy="1026021"/>
          </a:xfrm>
          <a:prstGeom prst="roundRect">
            <a:avLst>
              <a:gd name="adj" fmla="val 55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0050" y="3236565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WESTERN BLOT RESULTS (Phase 2)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0050" y="3472755"/>
            <a:ext cx="419709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bands (spliced ~85%):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0050" y="3653135"/>
            <a:ext cx="774650" cy="218480"/>
          </a:xfrm>
          <a:prstGeom prst="roundRect">
            <a:avLst>
              <a:gd name="adj" fmla="val 13079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6250" y="3691235"/>
            <a:ext cx="6346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VP1: 87 kDa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31850" y="3653135"/>
            <a:ext cx="774650" cy="218480"/>
          </a:xfrm>
          <a:prstGeom prst="roundRect">
            <a:avLst>
              <a:gd name="adj" fmla="val 13079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308050" y="3691235"/>
            <a:ext cx="6346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VP2: 73 kDa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063651" y="3653135"/>
            <a:ext cx="774650" cy="218480"/>
          </a:xfrm>
          <a:prstGeom prst="roundRect">
            <a:avLst>
              <a:gd name="adj" fmla="val 13079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139851" y="3691235"/>
            <a:ext cx="6346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VP3: 62 kDa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29150" y="3472755"/>
            <a:ext cx="419709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Shifted bands (retained ~15%):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29150" y="3653135"/>
            <a:ext cx="1029295" cy="218480"/>
          </a:xfrm>
          <a:prstGeom prst="roundRect">
            <a:avLst>
              <a:gd name="adj" fmla="val 13079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05350" y="3691235"/>
            <a:ext cx="89443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+VHH: 107 kDa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15595" y="3653135"/>
            <a:ext cx="958751" cy="218480"/>
          </a:xfrm>
          <a:prstGeom prst="roundRect">
            <a:avLst>
              <a:gd name="adj" fmla="val 13079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91795" y="3691235"/>
            <a:ext cx="82247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+VHH: 93 kDa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31496" y="3653135"/>
            <a:ext cx="958751" cy="218480"/>
          </a:xfrm>
          <a:prstGeom prst="roundRect">
            <a:avLst>
              <a:gd name="adj" fmla="val 13079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07696" y="3691235"/>
            <a:ext cx="82247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+VHH: 82 kDa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00050" y="3947815"/>
            <a:ext cx="851077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Insert: 187 aa x 110 Da = ~20.5 kDa shift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14300" y="4357836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434429"/>
            <a:ext cx="465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Conclusions and Recommendations</a:t>
            </a:r>
            <a:endParaRPr lang="en-US" sz="1800" dirty="0"/>
          </a:p>
        </p:txBody>
      </p:sp>
      <p:pic>
        <p:nvPicPr>
          <p:cNvPr id="3" name="Image 0" descr="/home/cnguy/projects/ppt_maker/tracer-vr4-slides/assets/rasterized-gradient-a333b8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872579"/>
            <a:ext cx="8572500" cy="14705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9100" y="967829"/>
            <a:ext cx="521345" cy="327571"/>
          </a:xfrm>
          <a:prstGeom prst="roundRect">
            <a:avLst>
              <a:gd name="adj" fmla="val 11631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52450" y="1024979"/>
            <a:ext cx="2597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4745" y="1033760"/>
            <a:ext cx="259798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VR4 Splicing Design is FEASIBLE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9100" y="1371600"/>
            <a:ext cx="83058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A provides minimal 6 aa scar when spliced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aa VHH insert with correct reading frame when retained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 VHH per capsid at 15% retention (12x higher than VP2 approach)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85750" y="2400300"/>
            <a:ext cx="4210050" cy="15887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00050" y="2495550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00050" y="2712690"/>
            <a:ext cx="3981450" cy="11811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minigene reporter construct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RT-PCR splice assay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Phase 1 passes: Build full Rep-Cap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to VP2 N-term in parallel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610100" y="2400300"/>
            <a:ext cx="4248150" cy="1588740"/>
          </a:xfrm>
          <a:prstGeom prst="roundRect">
            <a:avLst>
              <a:gd name="adj" fmla="val 3597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629150" y="2400300"/>
            <a:ext cx="0" cy="1588740"/>
          </a:xfrm>
          <a:prstGeom prst="line">
            <a:avLst/>
          </a:prstGeom>
          <a:noFill/>
          <a:ln w="38100">
            <a:solidFill>
              <a:srgbClr val="FF74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62500" y="2495550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UNCERTAINTIES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62500" y="2712690"/>
            <a:ext cx="3981450" cy="11811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retention rate (empirical)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Capsid assembly with 6 aa scar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 folding in intron context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Cell-type splicing variation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85750" y="4046190"/>
            <a:ext cx="8572500" cy="529530"/>
          </a:xfrm>
          <a:prstGeom prst="roundRect">
            <a:avLst>
              <a:gd name="adj" fmla="val 10793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19100" y="4141440"/>
            <a:ext cx="281704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proceed with VR4 validation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9100" y="4338191"/>
            <a:ext cx="281704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150"/>
              </a:spcBef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A | 6 aa scar | 187 aa retained | ~9 VHH/capsid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863780" y="4182666"/>
            <a:ext cx="861120" cy="256580"/>
          </a:xfrm>
          <a:prstGeom prst="roundRect">
            <a:avLst>
              <a:gd name="adj" fmla="val 14849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978080" y="4239816"/>
            <a:ext cx="64517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4300" y="4747171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|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Voyager Therapeutics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TRACER-Nano VR4 Splicing Design Validation</dc:title>
  <dc:subject>VR4 Loop-Based VHH Display</dc:subject>
  <dc:creator>Payload Group</dc:creator>
  <cp:lastModifiedBy>Payload Group</cp:lastModifiedBy>
  <cp:revision>1</cp:revision>
  <dcterms:created xsi:type="dcterms:W3CDTF">2026-01-27T18:41:48Z</dcterms:created>
  <dcterms:modified xsi:type="dcterms:W3CDTF">2026-01-27T18:41:48Z</dcterms:modified>
</cp:coreProperties>
</file>